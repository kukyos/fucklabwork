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3"/>
    <p:sldId id="267" r:id="rId4"/>
    <p:sldId id="269" r:id="rId5"/>
    <p:sldId id="270" r:id="rId6"/>
    <p:sldId id="271" r:id="rId7"/>
    <p:sldId id="272" r:id="rId8"/>
    <p:sldId id="268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307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308" r:id="rId34"/>
    <p:sldId id="30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customXml" Target="../customXml/item3.xml"/><Relationship Id="rId40" Type="http://schemas.openxmlformats.org/officeDocument/2006/relationships/customXml" Target="../customXml/item2.xml"/><Relationship Id="rId4" Type="http://schemas.openxmlformats.org/officeDocument/2006/relationships/slide" Target="slides/slide2.xml"/><Relationship Id="rId39" Type="http://schemas.openxmlformats.org/officeDocument/2006/relationships/customXml" Target="../customXml/item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microsoft.com/office/2007/relationships/hdphoto" Target="../media/image11.wdp"/><Relationship Id="rId3" Type="http://schemas.openxmlformats.org/officeDocument/2006/relationships/image" Target="../media/image10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hdphoto" Target="../media/image16.wdp"/><Relationship Id="rId4" Type="http://schemas.openxmlformats.org/officeDocument/2006/relationships/image" Target="../media/image15.png"/><Relationship Id="rId3" Type="http://schemas.microsoft.com/office/2007/relationships/hdphoto" Target="../media/image14.wdp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microsoft.com/office/2007/relationships/hdphoto" Target="../media/image19.wdp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22.wdp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24.wdp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26.wdp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hdphoto" Target="../media/image31.wdp"/><Relationship Id="rId4" Type="http://schemas.openxmlformats.org/officeDocument/2006/relationships/image" Target="../media/image30.png"/><Relationship Id="rId3" Type="http://schemas.microsoft.com/office/2007/relationships/hdphoto" Target="../media/image29.wdp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microsoft.com/office/2007/relationships/hdphoto" Target="../media/image34.wdp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36.wdp"/><Relationship Id="rId1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38.wdp"/><Relationship Id="rId1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40.wdp"/><Relationship Id="rId1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42.wdp"/><Relationship Id="rId1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44.wdp"/><Relationship Id="rId1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46.wdp"/><Relationship Id="rId1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48.wdp"/><Relationship Id="rId1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50.wdp"/><Relationship Id="rId1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52.wdp"/><Relationship Id="rId1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54.wdp"/><Relationship Id="rId1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png"/><Relationship Id="rId8" Type="http://schemas.microsoft.com/office/2007/relationships/hdphoto" Target="../media/image62.wdp"/><Relationship Id="rId7" Type="http://schemas.openxmlformats.org/officeDocument/2006/relationships/image" Target="../media/image61.png"/><Relationship Id="rId6" Type="http://schemas.microsoft.com/office/2007/relationships/hdphoto" Target="../media/image60.wdp"/><Relationship Id="rId5" Type="http://schemas.openxmlformats.org/officeDocument/2006/relationships/image" Target="../media/image59.png"/><Relationship Id="rId4" Type="http://schemas.microsoft.com/office/2007/relationships/hdphoto" Target="../media/image58.wdp"/><Relationship Id="rId3" Type="http://schemas.openxmlformats.org/officeDocument/2006/relationships/image" Target="../media/image57.png"/><Relationship Id="rId2" Type="http://schemas.microsoft.com/office/2007/relationships/hdphoto" Target="../media/image56.wdp"/><Relationship Id="rId11" Type="http://schemas.openxmlformats.org/officeDocument/2006/relationships/slideLayout" Target="../slideLayouts/slideLayout2.xml"/><Relationship Id="rId10" Type="http://schemas.microsoft.com/office/2007/relationships/hdphoto" Target="../media/image64.wdp"/><Relationship Id="rId1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microsoft.com/office/2007/relationships/hdphoto" Target="../media/image68.wdp"/><Relationship Id="rId3" Type="http://schemas.openxmlformats.org/officeDocument/2006/relationships/image" Target="../media/image67.png"/><Relationship Id="rId2" Type="http://schemas.microsoft.com/office/2007/relationships/hdphoto" Target="../media/image66.wdp"/><Relationship Id="rId1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DML Commands</a:t>
            </a:r>
            <a:endParaRPr lang="en-US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Manipulation Language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DML is used for inserting, deleting, and updating data in a database. It is used to retrieve and manipulate data in a relational database. It includes I</a:t>
            </a:r>
            <a:r>
              <a:rPr lang="en-GB" dirty="0">
                <a:solidFill>
                  <a:srgbClr val="7030A0"/>
                </a:solidFill>
              </a:rPr>
              <a:t>NSERT, UPDATE, and DELETE</a:t>
            </a:r>
            <a:r>
              <a:rPr lang="en-GB" dirty="0"/>
              <a:t>. Let's discuss these commands one at a time.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Manipulation Language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Language for accessing and manipulating the data organized by the appropriate data model</a:t>
            </a:r>
            <a:endParaRPr lang="en-GB" sz="2000" dirty="0"/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DML also known as query language</a:t>
            </a:r>
            <a:endParaRPr lang="en-GB" sz="20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Two classes of languages </a:t>
            </a:r>
            <a:endParaRPr lang="en-GB" sz="20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solidFill>
                  <a:srgbClr val="FF0000"/>
                </a:solidFill>
              </a:rPr>
              <a:t>Pure –</a:t>
            </a:r>
            <a:r>
              <a:rPr lang="en-GB" sz="2000" dirty="0"/>
              <a:t> used for proving properties about computational power and for optimization</a:t>
            </a:r>
            <a:endParaRPr lang="en-GB" sz="2000" dirty="0"/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Relational Algebra</a:t>
            </a:r>
            <a:endParaRPr lang="en-GB" sz="2000" dirty="0"/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Tuple relational calculus</a:t>
            </a:r>
            <a:endParaRPr lang="en-GB" sz="2000" dirty="0"/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Domain relational calculus</a:t>
            </a:r>
            <a:endParaRPr lang="en-GB" sz="20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solidFill>
                  <a:srgbClr val="FF0000"/>
                </a:solidFill>
              </a:rPr>
              <a:t>Commercial</a:t>
            </a:r>
            <a:r>
              <a:rPr lang="en-GB" sz="2000" dirty="0"/>
              <a:t> – used in commercial systems</a:t>
            </a:r>
            <a:endParaRPr lang="en-GB" sz="20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GB" sz="2000" dirty="0"/>
              <a:t>SQL is the most widely used commercial language</a:t>
            </a:r>
            <a:endParaRPr lang="en-GB" sz="2000" dirty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Manipulation Language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8487" y="2163686"/>
            <a:ext cx="5857875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Attribute Types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200705" y="2274838"/>
            <a:ext cx="10287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200" dirty="0"/>
              <a:t>The set of allowed values for each attribute is called the </a:t>
            </a:r>
            <a:r>
              <a:rPr lang="en-US" altLang="en-US" sz="2200" b="1" dirty="0">
                <a:solidFill>
                  <a:srgbClr val="000099"/>
                </a:solidFill>
              </a:rPr>
              <a:t>domain</a:t>
            </a:r>
            <a:r>
              <a:rPr lang="en-US" altLang="en-US" sz="2200" dirty="0"/>
              <a:t> of the attribute</a:t>
            </a:r>
            <a:endParaRPr lang="en-US" altLang="en-US" sz="22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200" dirty="0"/>
              <a:t>Attribute values are (normally) required to be </a:t>
            </a:r>
            <a:r>
              <a:rPr lang="en-US" altLang="en-US" sz="2200" b="1" dirty="0">
                <a:solidFill>
                  <a:srgbClr val="000099"/>
                </a:solidFill>
              </a:rPr>
              <a:t>atomic</a:t>
            </a:r>
            <a:r>
              <a:rPr lang="en-US" altLang="en-US" sz="2200" dirty="0"/>
              <a:t>; that is, indivisible</a:t>
            </a:r>
            <a:endParaRPr lang="en-US" altLang="en-US" sz="22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200" dirty="0"/>
              <a:t>The special value</a:t>
            </a:r>
            <a:r>
              <a:rPr lang="en-US" altLang="en-US" sz="2200" b="1" dirty="0">
                <a:solidFill>
                  <a:schemeClr val="tx2"/>
                </a:solidFill>
              </a:rPr>
              <a:t> </a:t>
            </a:r>
            <a:r>
              <a:rPr lang="en-US" altLang="en-US" sz="2200" b="1" i="1" dirty="0">
                <a:solidFill>
                  <a:srgbClr val="FF0000"/>
                </a:solidFill>
              </a:rPr>
              <a:t>null</a:t>
            </a:r>
            <a:r>
              <a:rPr lang="en-US" altLang="en-US" sz="2200" dirty="0"/>
              <a:t>  is a member of every domain. Indicated that the value is “unknown”</a:t>
            </a:r>
            <a:endParaRPr lang="en-US" altLang="en-US" sz="22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200" dirty="0"/>
              <a:t>The null value causes complications in the definition of many operations</a:t>
            </a:r>
            <a:endParaRPr lang="en-US" alt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Manipulation Language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200705" y="2274838"/>
            <a:ext cx="10287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altLang="en-US" sz="2200" dirty="0"/>
              <a:t>A DML statement is executed when you:</a:t>
            </a:r>
            <a:endParaRPr lang="en-GB" altLang="en-US" sz="22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altLang="en-US" sz="2200" dirty="0"/>
              <a:t>Add new rows to a table</a:t>
            </a:r>
            <a:endParaRPr lang="en-GB" altLang="en-US" sz="22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altLang="en-US" sz="2200" dirty="0"/>
              <a:t>Modify existing rows in a table</a:t>
            </a:r>
            <a:endParaRPr lang="en-GB" altLang="en-US" sz="22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altLang="en-US" sz="2200" dirty="0"/>
              <a:t>Remove existing rows from a table</a:t>
            </a:r>
            <a:endParaRPr lang="en-GB" altLang="en-US" sz="22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altLang="en-US" sz="2200" dirty="0"/>
              <a:t>A transaction consists of a collection of DML statements that form a logical unit of work.</a:t>
            </a:r>
            <a:endParaRPr lang="en-GB" alt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08201"/>
            <a:ext cx="4309221" cy="3760891"/>
          </a:xfrm>
        </p:spPr>
        <p:txBody>
          <a:bodyPr/>
          <a:lstStyle/>
          <a:p>
            <a:pPr algn="just"/>
            <a:r>
              <a:rPr lang="en-GB" dirty="0"/>
              <a:t>Insert statement is used to insert data in a SQL table. Using the Insert query, we can add one or more rows to the table. Following is the syntax of the MySQL INSERT Statement.</a:t>
            </a:r>
            <a:endParaRPr lang="en-GB" dirty="0"/>
          </a:p>
          <a:p>
            <a:pPr algn="just"/>
            <a:r>
              <a:rPr lang="en-IN" dirty="0">
                <a:solidFill>
                  <a:srgbClr val="7030A0"/>
                </a:solidFill>
              </a:rPr>
              <a:t>INSERT INTO </a:t>
            </a:r>
            <a:r>
              <a:rPr lang="en-IN" dirty="0" err="1">
                <a:solidFill>
                  <a:srgbClr val="7030A0"/>
                </a:solidFill>
              </a:rPr>
              <a:t>table_name</a:t>
            </a:r>
            <a:endParaRPr lang="en-IN" dirty="0">
              <a:solidFill>
                <a:srgbClr val="7030A0"/>
              </a:solidFill>
            </a:endParaRPr>
          </a:p>
          <a:p>
            <a:pPr algn="just"/>
            <a:r>
              <a:rPr lang="en-IN" dirty="0">
                <a:solidFill>
                  <a:srgbClr val="7030A0"/>
                </a:solidFill>
              </a:rPr>
              <a:t>(attribute1, attribute2, ...)</a:t>
            </a:r>
            <a:endParaRPr lang="en-IN" dirty="0">
              <a:solidFill>
                <a:srgbClr val="7030A0"/>
              </a:solidFill>
            </a:endParaRPr>
          </a:p>
          <a:p>
            <a:pPr algn="just"/>
            <a:r>
              <a:rPr lang="en-IN" dirty="0">
                <a:solidFill>
                  <a:srgbClr val="7030A0"/>
                </a:solidFill>
              </a:rPr>
              <a:t>VALUES(val1, val2, ...)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5892701" y="2104996"/>
            <a:ext cx="4309221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dirty="0"/>
              <a:t>Example:</a:t>
            </a:r>
            <a:endParaRPr lang="en-GB" dirty="0"/>
          </a:p>
          <a:p>
            <a:pPr algn="just"/>
            <a:r>
              <a:rPr lang="en-GB" dirty="0">
                <a:solidFill>
                  <a:srgbClr val="7030A0"/>
                </a:solidFill>
              </a:rPr>
              <a:t>insert into </a:t>
            </a:r>
            <a:r>
              <a:rPr lang="en-GB" dirty="0" err="1">
                <a:solidFill>
                  <a:srgbClr val="7030A0"/>
                </a:solidFill>
              </a:rPr>
              <a:t>my_table</a:t>
            </a:r>
            <a:endParaRPr lang="en-GB" dirty="0">
              <a:solidFill>
                <a:srgbClr val="7030A0"/>
              </a:solidFill>
            </a:endParaRPr>
          </a:p>
          <a:p>
            <a:pPr algn="just"/>
            <a:r>
              <a:rPr lang="en-GB" dirty="0">
                <a:solidFill>
                  <a:srgbClr val="7030A0"/>
                </a:solidFill>
              </a:rPr>
              <a:t>values("myName3", 5, false),</a:t>
            </a:r>
            <a:endParaRPr lang="en-GB" dirty="0">
              <a:solidFill>
                <a:srgbClr val="7030A0"/>
              </a:solidFill>
            </a:endParaRPr>
          </a:p>
          <a:p>
            <a:pPr algn="just"/>
            <a:r>
              <a:rPr lang="en-GB" dirty="0">
                <a:solidFill>
                  <a:srgbClr val="7030A0"/>
                </a:solidFill>
              </a:rPr>
              <a:t>("myName4", 51, true);</a:t>
            </a:r>
            <a:endParaRPr lang="en-IN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08201"/>
            <a:ext cx="7096809" cy="3760891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INSERT INTO departments (</a:t>
            </a:r>
            <a:r>
              <a:rPr lang="en-GB" dirty="0" err="1"/>
              <a:t>department_id</a:t>
            </a:r>
            <a:r>
              <a:rPr lang="en-GB" dirty="0"/>
              <a:t>, </a:t>
            </a:r>
            <a:r>
              <a:rPr lang="en-GB" dirty="0" err="1"/>
              <a:t>department_name</a:t>
            </a:r>
            <a:r>
              <a:rPr lang="en-GB" dirty="0"/>
              <a:t>,  </a:t>
            </a:r>
            <a:r>
              <a:rPr lang="en-GB" dirty="0" err="1"/>
              <a:t>manager_id</a:t>
            </a:r>
            <a:r>
              <a:rPr lang="en-GB" dirty="0"/>
              <a:t>, </a:t>
            </a:r>
            <a:r>
              <a:rPr lang="en-GB" dirty="0" err="1"/>
              <a:t>location_id</a:t>
            </a:r>
            <a:r>
              <a:rPr lang="en-GB" dirty="0"/>
              <a:t>) </a:t>
            </a:r>
            <a:r>
              <a:rPr lang="en-GB" dirty="0">
                <a:solidFill>
                  <a:srgbClr val="7030A0"/>
                </a:solidFill>
              </a:rPr>
              <a:t>VALUES </a:t>
            </a:r>
            <a:r>
              <a:rPr lang="en-GB" dirty="0"/>
              <a:t>(</a:t>
            </a:r>
            <a:r>
              <a:rPr lang="en-GB" dirty="0">
                <a:solidFill>
                  <a:srgbClr val="FF0000"/>
                </a:solidFill>
              </a:rPr>
              <a:t>70, 'Public Relations', 100, 1700</a:t>
            </a:r>
            <a:r>
              <a:rPr lang="en-GB" dirty="0"/>
              <a:t>);</a:t>
            </a:r>
            <a:endParaRPr lang="en-GB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1 row created. </a:t>
            </a:r>
            <a:endParaRPr lang="en-GB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Inserting Rows with Null Values:</a:t>
            </a:r>
            <a:endParaRPr lang="en-GB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020" y="4088260"/>
            <a:ext cx="7915275" cy="1238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Changing Data in a Table</a:t>
            </a:r>
            <a:endParaRPr lang="en-IN" dirty="0"/>
          </a:p>
        </p:txBody>
      </p:sp>
      <p:pic>
        <p:nvPicPr>
          <p:cNvPr id="7" name="Google Shape;176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77275" y="2195457"/>
            <a:ext cx="762000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77;p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0441" y="4234816"/>
            <a:ext cx="7419975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185908" y="182612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EMPLOYEES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UPDATE Statement Syntax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08202"/>
            <a:ext cx="9990930" cy="1149904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>
                <a:solidFill>
                  <a:srgbClr val="7030A0"/>
                </a:solidFill>
              </a:rPr>
              <a:t>Modify existing rows with the UPDATE statement.</a:t>
            </a:r>
            <a:endParaRPr lang="en-GB" dirty="0">
              <a:solidFill>
                <a:srgbClr val="7030A0"/>
              </a:solidFill>
            </a:endParaRPr>
          </a:p>
          <a:p>
            <a:pPr algn="just"/>
            <a:br>
              <a:rPr lang="en-GB" dirty="0">
                <a:solidFill>
                  <a:srgbClr val="7030A0"/>
                </a:solidFill>
              </a:rPr>
            </a:br>
            <a:endParaRPr lang="en-IN" dirty="0">
              <a:solidFill>
                <a:srgbClr val="7030A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5987" y="2781300"/>
            <a:ext cx="7820025" cy="1295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7236" y="4423142"/>
            <a:ext cx="6094520" cy="317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Char char="•"/>
            </a:pPr>
            <a:r>
              <a:rPr lang="en-GB" sz="1800" b="0" i="0" u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Update more than one row at a time, if required.</a:t>
            </a:r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08202"/>
            <a:ext cx="9990930" cy="1149904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>
                <a:solidFill>
                  <a:srgbClr val="7030A0"/>
                </a:solidFill>
              </a:rPr>
              <a:t>Create a table deposit with the following specifications.</a:t>
            </a:r>
            <a:endParaRPr lang="en-GB" dirty="0">
              <a:solidFill>
                <a:srgbClr val="7030A0"/>
              </a:solidFill>
            </a:endParaRPr>
          </a:p>
          <a:p>
            <a:pPr algn="just"/>
            <a:br>
              <a:rPr lang="en-GB" dirty="0">
                <a:solidFill>
                  <a:srgbClr val="7030A0"/>
                </a:solidFill>
              </a:rPr>
            </a:br>
            <a:endParaRPr lang="en-IN" dirty="0">
              <a:solidFill>
                <a:srgbClr val="7030A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5894" y="2683154"/>
            <a:ext cx="5324475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08202"/>
            <a:ext cx="9990930" cy="1149904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solidFill>
                  <a:srgbClr val="7030A0"/>
                </a:solidFill>
              </a:rPr>
              <a:t>Query:</a:t>
            </a:r>
            <a:endParaRPr lang="en-IN" dirty="0">
              <a:solidFill>
                <a:srgbClr val="7030A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2571195"/>
            <a:ext cx="7896225" cy="1028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1545" y="3721099"/>
            <a:ext cx="7896225" cy="2209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71548"/>
            <a:ext cx="6791325" cy="15430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0380" y="3634572"/>
            <a:ext cx="8029575" cy="8858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8479" y="4520397"/>
            <a:ext cx="7953375" cy="1857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047" y="2056383"/>
            <a:ext cx="6772275" cy="1466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7889" y="3523233"/>
            <a:ext cx="7371610" cy="27319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439" y="2253616"/>
            <a:ext cx="7219950" cy="28670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439" y="2253616"/>
            <a:ext cx="7219950" cy="28670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56307" y="2066416"/>
            <a:ext cx="8495713" cy="41568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9497" y="2166890"/>
            <a:ext cx="9791377" cy="36923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2241427"/>
            <a:ext cx="10310995" cy="32094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700" y="2006768"/>
            <a:ext cx="5075300" cy="25983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78353" y="4605127"/>
            <a:ext cx="7038975" cy="1219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1216" y="2150752"/>
            <a:ext cx="3506679" cy="2384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89522"/>
            <a:ext cx="5286375" cy="1866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274" y="3963353"/>
            <a:ext cx="44577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91284" y="2065538"/>
            <a:ext cx="7762875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7956" y="2004689"/>
            <a:ext cx="70485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0717" y="2035436"/>
            <a:ext cx="7662262" cy="414430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5518" y="2183490"/>
            <a:ext cx="8934818" cy="372903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79" y="1923305"/>
            <a:ext cx="8855921" cy="370513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200705" y="196816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Display the account date of customer Anil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61856" y="2568310"/>
            <a:ext cx="7315200" cy="26479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2089304"/>
            <a:ext cx="8240222" cy="360128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3581" y="1989338"/>
            <a:ext cx="859155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032029" y="210133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Give 10% interest to all depositors.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2122" y="2470666"/>
            <a:ext cx="7858125" cy="34004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2226" y="2056937"/>
            <a:ext cx="8467725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2120099"/>
            <a:ext cx="4114800" cy="1943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7191" y="4318293"/>
            <a:ext cx="4857750" cy="1914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0991" y="2120099"/>
            <a:ext cx="3362325" cy="1114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08495" y="3484901"/>
            <a:ext cx="4086225" cy="12001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1370" y="5044209"/>
            <a:ext cx="3943350" cy="1009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Example:1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2045378"/>
            <a:ext cx="4381500" cy="1790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0" y="2045378"/>
            <a:ext cx="4133850" cy="1819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F4D41-822D-40F2-A7AC-E4E6CB36CA7A}">
  <ds:schemaRefs/>
</ds:datastoreItem>
</file>

<file path=customXml/itemProps2.xml><?xml version="1.0" encoding="utf-8"?>
<ds:datastoreItem xmlns:ds="http://schemas.openxmlformats.org/officeDocument/2006/customXml" ds:itemID="{C5A59D56-2157-4202-9D02-F44E447A241D}">
  <ds:schemaRefs/>
</ds:datastoreItem>
</file>

<file path=customXml/itemProps3.xml><?xml version="1.0" encoding="utf-8"?>
<ds:datastoreItem xmlns:ds="http://schemas.openxmlformats.org/officeDocument/2006/customXml" ds:itemID="{19DAD249-BF80-48EF-9AFB-36A11BCDC2C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{EE5B7B3B-5270-453E-A528-AAC0F7D0999A}tf56160789_win32</Template>
  <TotalTime>0</TotalTime>
  <Words>2284</Words>
  <Application>WPS Presentation</Application>
  <PresentationFormat>Widescreen</PresentationFormat>
  <Paragraphs>123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Arial</vt:lpstr>
      <vt:lpstr>SimSun</vt:lpstr>
      <vt:lpstr>Wingdings</vt:lpstr>
      <vt:lpstr>Calibri</vt:lpstr>
      <vt:lpstr>Courier New</vt:lpstr>
      <vt:lpstr>Arial</vt:lpstr>
      <vt:lpstr>Calibri</vt:lpstr>
      <vt:lpstr>Bookman Old Style</vt:lpstr>
      <vt:lpstr>Franklin Gothic Book</vt:lpstr>
      <vt:lpstr>Microsoft YaHei</vt:lpstr>
      <vt:lpstr>Arial Unicode MS</vt:lpstr>
      <vt:lpstr>Custom</vt:lpstr>
      <vt:lpstr>DML Commands</vt:lpstr>
      <vt:lpstr>Data Manipulation Language</vt:lpstr>
      <vt:lpstr>Data Manipulation Language</vt:lpstr>
      <vt:lpstr>Data Manipulation Language</vt:lpstr>
      <vt:lpstr>Attribute Types</vt:lpstr>
      <vt:lpstr>Data Manipulation Language</vt:lpstr>
      <vt:lpstr>INSERT</vt:lpstr>
      <vt:lpstr>INSERT</vt:lpstr>
      <vt:lpstr>Changing Data in a Table</vt:lpstr>
      <vt:lpstr>The UPDATE Statement Syntax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  <vt:lpstr>Example:1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DDL Commands</dc:title>
  <dc:creator>DELL</dc:creator>
  <cp:lastModifiedBy>Dr. SALAJA S. 476</cp:lastModifiedBy>
  <cp:revision>48</cp:revision>
  <dcterms:created xsi:type="dcterms:W3CDTF">2023-07-17T09:01:00Z</dcterms:created>
  <dcterms:modified xsi:type="dcterms:W3CDTF">2026-07-22T05:35:20Z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DE0E09D0C075431E97B8B383B6B59838_13</vt:lpwstr>
  </property>
  <property fmtid="{D5CDD505-2E9C-101B-9397-08002B2CF9AE}" pid="4" name="KSOProductBuildVer">
    <vt:lpwstr>1033-12.1.0.26880</vt:lpwstr>
  </property>
</Properties>
</file>