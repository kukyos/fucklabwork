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sldIdLst>
    <p:sldId id="291" r:id="rId3"/>
    <p:sldId id="257" r:id="rId4"/>
    <p:sldId id="271" r:id="rId5"/>
    <p:sldId id="258" r:id="rId6"/>
    <p:sldId id="274" r:id="rId7"/>
    <p:sldId id="259" r:id="rId8"/>
    <p:sldId id="272" r:id="rId9"/>
    <p:sldId id="273" r:id="rId10"/>
    <p:sldId id="275" r:id="rId11"/>
    <p:sldId id="276" r:id="rId12"/>
    <p:sldId id="277" r:id="rId13"/>
    <p:sldId id="261" r:id="rId14"/>
    <p:sldId id="282" r:id="rId15"/>
    <p:sldId id="256" r:id="rId16"/>
    <p:sldId id="283" r:id="rId17"/>
    <p:sldId id="260" r:id="rId18"/>
    <p:sldId id="286" r:id="rId19"/>
    <p:sldId id="287" r:id="rId20"/>
    <p:sldId id="263" r:id="rId21"/>
    <p:sldId id="265" r:id="rId22"/>
    <p:sldId id="266" r:id="rId23"/>
    <p:sldId id="267" r:id="rId24"/>
    <p:sldId id="288" r:id="rId25"/>
    <p:sldId id="284" r:id="rId26"/>
    <p:sldId id="289" r:id="rId27"/>
    <p:sldId id="292" r:id="rId28"/>
    <p:sldId id="293" r:id="rId29"/>
    <p:sldId id="29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EC40F-5823-43CA-A0C5-0EC73F11E2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FF214-8C3A-49D2-BD08-8E1B5BF19AB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edureka.co/blog/sql-commands#TCL" TargetMode="External"/><Relationship Id="rId3" Type="http://schemas.openxmlformats.org/officeDocument/2006/relationships/hyperlink" Target="https://www.edureka.co/blog/sql-commands#DCL" TargetMode="External"/><Relationship Id="rId2" Type="http://schemas.openxmlformats.org/officeDocument/2006/relationships/hyperlink" Target="https://www.edureka.co/blog/sql-commands#DML" TargetMode="External"/><Relationship Id="rId1" Type="http://schemas.openxmlformats.org/officeDocument/2006/relationships/hyperlink" Target="https://www.edureka.co/blog/sql-commands#DD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geeksforgeeks.org/sql-delete-statement/" TargetMode="External"/><Relationship Id="rId3" Type="http://schemas.openxmlformats.org/officeDocument/2006/relationships/hyperlink" Target="https://www.geeksforgeeks.org/sql-update-statement/" TargetMode="External"/><Relationship Id="rId2" Type="http://schemas.openxmlformats.org/officeDocument/2006/relationships/hyperlink" Target="https://www.geeksforgeeks.org/sql-insert-statement/" TargetMode="External"/><Relationship Id="rId1" Type="http://schemas.openxmlformats.org/officeDocument/2006/relationships/hyperlink" Target="https://www.geeksforgeeks.org/sql-select-clause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geeksforgeeks.org/sql-insert-statement/" TargetMode="External"/><Relationship Id="rId1" Type="http://schemas.openxmlformats.org/officeDocument/2006/relationships/hyperlink" Target="https://www.geeksforgeeks.org/sql-select-clause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geeksforgeeks.org/sql-delete-statement/" TargetMode="External"/><Relationship Id="rId1" Type="http://schemas.openxmlformats.org/officeDocument/2006/relationships/hyperlink" Target="https://www.geeksforgeeks.org/sql-update-statement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www.w3schools.com/sql/sql_create_index.asp" TargetMode="External"/><Relationship Id="rId6" Type="http://schemas.openxmlformats.org/officeDocument/2006/relationships/hyperlink" Target="https://www.w3schools.com/sql/sql_default.asp" TargetMode="External"/><Relationship Id="rId5" Type="http://schemas.openxmlformats.org/officeDocument/2006/relationships/hyperlink" Target="https://www.w3schools.com/sql/sql_check.asp" TargetMode="External"/><Relationship Id="rId4" Type="http://schemas.openxmlformats.org/officeDocument/2006/relationships/hyperlink" Target="https://www.w3schools.com/sql/sql_foreignkey.asp" TargetMode="External"/><Relationship Id="rId3" Type="http://schemas.openxmlformats.org/officeDocument/2006/relationships/hyperlink" Target="https://www.w3schools.com/sql/sql_primarykey.asp" TargetMode="External"/><Relationship Id="rId2" Type="http://schemas.openxmlformats.org/officeDocument/2006/relationships/hyperlink" Target="https://www.w3schools.com/sql/sql_unique.asp" TargetMode="External"/><Relationship Id="rId1" Type="http://schemas.openxmlformats.org/officeDocument/2006/relationships/hyperlink" Target="https://www.w3schools.com/sql/sql_notnull.asp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hyperlink" Target="https://www.w3schools.com/sql/sql_primarykey.asp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DBMS LAB</a:t>
            </a:r>
            <a:br>
              <a:rPr lang="en-IN" dirty="0"/>
            </a:br>
            <a:r>
              <a:rPr lang="en-IN" dirty="0"/>
              <a:t>EX :1a and 1b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4563"/>
            <a:ext cx="9144000" cy="1245637"/>
          </a:xfrm>
        </p:spPr>
        <p:txBody>
          <a:bodyPr>
            <a:normAutofit/>
          </a:bodyPr>
          <a:lstStyle/>
          <a:p>
            <a:r>
              <a:rPr lang="en-IN" dirty="0"/>
              <a:t>What is SQL?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00200"/>
            <a:ext cx="9144000" cy="543508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SQL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 is a database language designed for the retrieval and management of data in a relational database.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Source Sans Pro" panose="020F0502020204030204" pitchFamily="34" charset="0"/>
              </a:rPr>
              <a:t>Uses of SQL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It helps users to access data in the RDBMS system.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It helps you to describe the data.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It allows you to define the data in a database and manipulate that specific data.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With the help of SQL commands in DBMS, you can create and drop databases and tables.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SQL offers you to use the function in a database, create a view, and stored procedure.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You can set permissions on tables, procedures, and views.</a:t>
            </a: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algn="l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Relational </a:t>
            </a:r>
            <a:r>
              <a:rPr lang="en-IN" dirty="0" err="1"/>
              <a:t>DataBase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8882" y="1664817"/>
            <a:ext cx="8584163" cy="4828058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/>
          <a:lstStyle/>
          <a:p>
            <a:r>
              <a:rPr lang="en-IN" dirty="0"/>
              <a:t>SQL Languages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43201" y="1881609"/>
            <a:ext cx="7782568" cy="4351338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33062" y="571716"/>
            <a:ext cx="8390552" cy="444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Open Sans" panose="020B0606030504020204" pitchFamily="34" charset="0"/>
                <a:hlinkClick r:id="rId1"/>
              </a:rPr>
              <a:t>Data Definition Language(DDL)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– Consists of commands which are used to define the database.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Open Sans" panose="020B0606030504020204" pitchFamily="34" charset="0"/>
                <a:hlinkClick r:id="rId2"/>
              </a:rPr>
              <a:t>Data Manipulation Language(DML)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–  Consists of commands which are used to manipulate the data present in the database.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Open Sans" panose="020B0606030504020204" pitchFamily="34" charset="0"/>
                <a:hlinkClick r:id="rId3"/>
              </a:rPr>
              <a:t>Data Control Language(DCL)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– Consists of commands which deal with the user permissions and controls of the database system.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Open Sans" panose="020B0606030504020204" pitchFamily="34" charset="0"/>
                <a:hlinkClick r:id="rId4"/>
              </a:rPr>
              <a:t>Transaction Control Language(TCL)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– Consist of commands which deal with the transaction of the database.</a:t>
            </a:r>
            <a:endParaRPr lang="en-US" b="0" i="0" dirty="0"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What is DDL?</a:t>
            </a:r>
            <a:br>
              <a:rPr lang="en-US" b="1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11" y="1027905"/>
            <a:ext cx="11392677" cy="492148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Data Definition Language helps you to define the database structure or schema. Let’s learn </a:t>
            </a:r>
            <a:r>
              <a:rPr lang="en-US" sz="2400" b="0" i="0" dirty="0">
                <a:effectLst/>
                <a:latin typeface="Source Sans Pro" panose="020F0502020204030204" pitchFamily="34" charset="0"/>
              </a:rPr>
              <a:t>about DDL commands with syntax.</a:t>
            </a:r>
            <a:endParaRPr lang="en-US" sz="2400" b="0" i="0" dirty="0">
              <a:effectLst/>
              <a:latin typeface="Source Sans Pro" panose="020F0502020204030204" pitchFamily="34" charset="0"/>
            </a:endParaRPr>
          </a:p>
          <a:p>
            <a:pPr marL="0" indent="0" algn="just" fontAlgn="base">
              <a:buNone/>
            </a:pPr>
            <a:r>
              <a:rPr lang="en-US" b="0" i="0" dirty="0">
                <a:effectLst/>
                <a:latin typeface="Nunito" pitchFamily="2" charset="0"/>
              </a:rPr>
              <a:t>List of DDL commands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/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CREATE</a:t>
            </a:r>
            <a:r>
              <a:rPr lang="en-US" b="0" i="0" dirty="0">
                <a:effectLst/>
                <a:latin typeface="Nunito" pitchFamily="2" charset="0"/>
              </a:rPr>
              <a:t>: This command is used to create the database or its objects (like table, index, function, views, store procedure, and triggers).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DROP</a:t>
            </a:r>
            <a:r>
              <a:rPr lang="en-US" b="0" i="0" dirty="0">
                <a:effectLst/>
                <a:latin typeface="Nunito" pitchFamily="2" charset="0"/>
              </a:rPr>
              <a:t>: This command is used to delete objects from the database.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ALTER: </a:t>
            </a:r>
            <a:r>
              <a:rPr lang="en-US" b="0" i="0" dirty="0">
                <a:effectLst/>
                <a:latin typeface="Nunito" pitchFamily="2" charset="0"/>
              </a:rPr>
              <a:t>This is used to alter the structure of the database.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TRUNCATE: </a:t>
            </a:r>
            <a:r>
              <a:rPr lang="en-US" b="0" i="0" dirty="0">
                <a:effectLst/>
                <a:latin typeface="Nunito" pitchFamily="2" charset="0"/>
              </a:rPr>
              <a:t>This is used to remove all records from a table, including all spaces allocated for the records are removed.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COMMENT</a:t>
            </a:r>
            <a:r>
              <a:rPr lang="en-US" b="0" i="0" dirty="0">
                <a:effectLst/>
                <a:latin typeface="Nunito" pitchFamily="2" charset="0"/>
              </a:rPr>
              <a:t>: This is used to add comments to the data dictionary.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RENAME: </a:t>
            </a:r>
            <a:r>
              <a:rPr lang="en-US" b="0" i="0" dirty="0">
                <a:effectLst/>
                <a:latin typeface="Nunito" pitchFamily="2" charset="0"/>
              </a:rPr>
              <a:t>This is used to rename an object existing in the database.</a:t>
            </a:r>
            <a:endParaRPr lang="en-US" b="0" i="0" dirty="0">
              <a:effectLst/>
              <a:latin typeface="Nunito" pitchFamily="2" charset="0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endParaRPr lang="en-US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6434"/>
          </a:xfrm>
        </p:spPr>
        <p:txBody>
          <a:bodyPr>
            <a:normAutofit fontScale="90000"/>
          </a:bodyPr>
          <a:lstStyle/>
          <a:p>
            <a:r>
              <a:rPr lang="en-IN" sz="4400" b="1" i="0" dirty="0">
                <a:effectLst/>
                <a:latin typeface="Google Sans"/>
              </a:rPr>
              <a:t>Data Definition Language (DDL)</a:t>
            </a:r>
            <a:br>
              <a:rPr lang="en-IN" sz="4400" b="1" i="0" dirty="0">
                <a:effectLst/>
                <a:latin typeface="Google Sans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641"/>
            <a:ext cx="10515600" cy="4945322"/>
          </a:xfrm>
        </p:spPr>
        <p:txBody>
          <a:bodyPr>
            <a:normAutofit fontScale="92500"/>
          </a:bodyPr>
          <a:lstStyle/>
          <a:p>
            <a:pPr algn="just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List of DDL commands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CREATE</a:t>
            </a:r>
            <a:r>
              <a:rPr lang="en-US" b="0" i="0" dirty="0">
                <a:effectLst/>
                <a:latin typeface="Nunito" pitchFamily="2" charset="0"/>
              </a:rPr>
              <a:t>: This command is used to create the database or its objects (like table, index, function, views, store procedure, and triggers).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DROP</a:t>
            </a:r>
            <a:r>
              <a:rPr lang="en-US" b="0" i="0" dirty="0">
                <a:effectLst/>
                <a:latin typeface="Nunito" pitchFamily="2" charset="0"/>
              </a:rPr>
              <a:t>: This command is used to delete objects from the database.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ALTER: </a:t>
            </a:r>
            <a:r>
              <a:rPr lang="en-US" b="0" i="0" dirty="0">
                <a:effectLst/>
                <a:latin typeface="Nunito" pitchFamily="2" charset="0"/>
              </a:rPr>
              <a:t>This is used to alter the structure of the database.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TRUNCATE: </a:t>
            </a:r>
            <a:r>
              <a:rPr lang="en-US" b="0" i="0" dirty="0">
                <a:effectLst/>
                <a:latin typeface="Nunito" pitchFamily="2" charset="0"/>
              </a:rPr>
              <a:t>This is used to remove all records from a table, including all spaces allocated for the records are removed.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COMMENT</a:t>
            </a:r>
            <a:r>
              <a:rPr lang="en-US" b="0" i="0" dirty="0">
                <a:effectLst/>
                <a:latin typeface="Nunito" pitchFamily="2" charset="0"/>
              </a:rPr>
              <a:t>: This is used to add comments to the data dictionary.</a:t>
            </a:r>
            <a:endParaRPr lang="en-US" b="0" i="0" dirty="0"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Nunito" pitchFamily="2" charset="0"/>
              </a:rPr>
              <a:t>RENAME: </a:t>
            </a:r>
            <a:r>
              <a:rPr lang="en-US" b="0" i="0" dirty="0">
                <a:effectLst/>
                <a:latin typeface="Nunito" pitchFamily="2" charset="0"/>
              </a:rPr>
              <a:t>This is used to rename an object existing in the database.</a:t>
            </a:r>
            <a:endParaRPr lang="en-US" b="0" i="0" dirty="0">
              <a:effectLst/>
              <a:latin typeface="Nunito" pitchFamily="2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168" y="578497"/>
            <a:ext cx="10793964" cy="80057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CREATE command</a:t>
            </a:r>
            <a:endParaRPr lang="en-IN" b="1" dirty="0"/>
          </a:p>
          <a:p>
            <a:pPr marL="0" indent="0">
              <a:buNone/>
            </a:pPr>
            <a:r>
              <a:rPr lang="en-US" sz="2000" b="0" i="0" dirty="0">
                <a:effectLst/>
                <a:latin typeface="Open Sans" panose="020B0606030504020204" pitchFamily="34" charset="0"/>
              </a:rPr>
              <a:t>This statement is used to create a table or a database.</a:t>
            </a:r>
            <a:endParaRPr lang="en-IN" sz="2000" b="1" dirty="0"/>
          </a:p>
          <a:p>
            <a:pPr marL="0" indent="0">
              <a:buNone/>
            </a:pPr>
            <a:r>
              <a:rPr lang="en-IN" b="1" dirty="0"/>
              <a:t>SYNTAX</a:t>
            </a:r>
            <a:endParaRPr lang="en-IN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4A4A4A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CREATE TABLE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( Column1 datatype, Column2 datatype, Column3 datatype, ....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ColumnN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datatype );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Example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CREATE TABLE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Employee_Info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EmployeeID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int,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EmployeeName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varchar(255),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Address varchar(255),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City varchar(255),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Country varchar(255)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295404"/>
            <a:ext cx="10515600" cy="4351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b="1" i="0" u="sng" dirty="0">
                <a:effectLst/>
                <a:latin typeface="Open Sans" panose="020B0606030504020204" pitchFamily="34" charset="0"/>
              </a:rPr>
              <a:t>DROP</a:t>
            </a:r>
            <a:endParaRPr lang="en-US" sz="1800" b="1" i="0" u="sng" dirty="0">
              <a:effectLst/>
              <a:latin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b="0" i="0" dirty="0">
                <a:effectLst/>
                <a:latin typeface="Open Sans" panose="020B0606030504020204" pitchFamily="34" charset="0"/>
              </a:rPr>
              <a:t>	This statement is used to drop an existing table. When you use this statement, complete information present in the table will be lost.</a:t>
            </a:r>
            <a:endParaRPr lang="en-US" altLang="en-US" sz="1800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DROP TABLE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Example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sz="1800" b="0" i="0" u="none" strike="noStrike" kern="1200" dirty="0">
                <a:effectLst/>
                <a:latin typeface="Monaco"/>
              </a:rPr>
              <a:t>DROP Table </a:t>
            </a:r>
            <a:r>
              <a:rPr lang="en-IN" sz="1800" b="0" i="0" u="none" strike="noStrike" kern="1200" dirty="0" err="1">
                <a:effectLst/>
                <a:latin typeface="Monaco"/>
              </a:rPr>
              <a:t>Employee_Info</a:t>
            </a:r>
            <a:r>
              <a:rPr lang="en-IN" sz="1800" b="0" i="0" u="none" strike="noStrike" kern="1200" dirty="0">
                <a:effectLst/>
                <a:latin typeface="Monaco"/>
              </a:rPr>
              <a:t>;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1764" y="546503"/>
            <a:ext cx="10394302" cy="687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Open Sans" panose="020B0606030504020204" pitchFamily="34" charset="0"/>
                <a:cs typeface="Open Sans" panose="020B0606030504020204" pitchFamily="34" charset="0"/>
              </a:rPr>
              <a:t>ALTER</a:t>
            </a:r>
            <a:endParaRPr lang="en-US" altLang="en-US" sz="1800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b="0" i="0" dirty="0">
                <a:effectLst/>
                <a:latin typeface="Open Sans" panose="020B0606030504020204" pitchFamily="34" charset="0"/>
              </a:rPr>
              <a:t>This command is used to delete, modify or add constraints or columns in an existing table.</a:t>
            </a:r>
            <a:endParaRPr lang="en-US" altLang="en-US" sz="1800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b="0" i="0" dirty="0">
                <a:effectLst/>
                <a:latin typeface="Open Sans" panose="020B0606030504020204" pitchFamily="34" charset="0"/>
              </a:rPr>
              <a:t>If you wish to add a column, then you will use the </a:t>
            </a:r>
            <a:r>
              <a:rPr lang="en-US" sz="1800" b="1" i="0" dirty="0">
                <a:effectLst/>
                <a:latin typeface="Open Sans" panose="020B0606030504020204" pitchFamily="34" charset="0"/>
              </a:rPr>
              <a:t>ADD command</a:t>
            </a:r>
            <a:r>
              <a:rPr lang="en-US" sz="1800" b="0" i="0" dirty="0">
                <a:effectLst/>
                <a:latin typeface="Open Sans" panose="020B0606030504020204" pitchFamily="34" charset="0"/>
              </a:rPr>
              <a:t>, and if you wish to delete a column, then you will use the </a:t>
            </a:r>
            <a:r>
              <a:rPr lang="en-US" sz="1800" b="1" i="0" dirty="0">
                <a:effectLst/>
                <a:latin typeface="Open Sans" panose="020B0606030504020204" pitchFamily="34" charset="0"/>
              </a:rPr>
              <a:t>DROP COLUMN </a:t>
            </a:r>
            <a:r>
              <a:rPr lang="en-US" sz="1800" b="0" i="0" dirty="0">
                <a:effectLst/>
                <a:latin typeface="Open Sans" panose="020B0606030504020204" pitchFamily="34" charset="0"/>
              </a:rPr>
              <a:t>command.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ALTER TABLE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ADD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ColumnName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Datatype;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ALTER TABLE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DROP COLUMN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ColumnName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ADD Column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BloodGroup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: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aco"/>
              </a:rPr>
              <a:t> 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ALTER TABLE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Employee_Info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ADD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BloodGroup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varchar(255);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aco"/>
              </a:rPr>
              <a:t> 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DROP Column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BloodGroup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: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aco"/>
              </a:rPr>
              <a:t> 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ALTER TABLE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Employee_Info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DROP COLUMN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BloodGroup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;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65414" y="543280"/>
            <a:ext cx="8577165" cy="420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The ‘ALTER TABLE’ Statement with ALTER/MODIFY COLUMN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This statement is used to change the datatype of an existing column in a table.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Syntax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ALTER TABLE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TableName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ALTER COLUMN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ColumnName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Datatype;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Example</a:t>
            </a:r>
            <a:endParaRPr lang="en-US" altLang="en-US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b="0" i="0" dirty="0">
                <a:effectLst/>
                <a:latin typeface="Monaco"/>
              </a:rPr>
              <a:t>Add a column DOB and change the data type to Date.</a:t>
            </a:r>
            <a:endParaRPr lang="en-US" b="0" i="0" dirty="0">
              <a:effectLst/>
              <a:latin typeface="Monaco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b="0" i="0" dirty="0">
                <a:effectLst/>
                <a:latin typeface="Monaco"/>
              </a:rPr>
              <a:t> </a:t>
            </a:r>
            <a:r>
              <a:rPr lang="en-US" b="1" i="0" dirty="0">
                <a:effectLst/>
                <a:latin typeface="Monaco"/>
              </a:rPr>
              <a:t>Syntax</a:t>
            </a:r>
            <a:endParaRPr lang="en-US" b="1" i="0" dirty="0">
              <a:effectLst/>
              <a:latin typeface="Monaco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b="0" i="0" dirty="0">
                <a:effectLst/>
                <a:latin typeface="Monaco"/>
              </a:rPr>
              <a:t>ALTER TABLE </a:t>
            </a:r>
            <a:r>
              <a:rPr lang="en-US" b="0" i="0" dirty="0" err="1">
                <a:effectLst/>
                <a:latin typeface="Monaco"/>
              </a:rPr>
              <a:t>Employee_Info</a:t>
            </a:r>
            <a:r>
              <a:rPr lang="en-US" dirty="0">
                <a:latin typeface="Monaco"/>
              </a:rPr>
              <a:t> </a:t>
            </a:r>
            <a:r>
              <a:rPr lang="en-US" b="0" i="0" dirty="0">
                <a:effectLst/>
                <a:latin typeface="Monaco"/>
              </a:rPr>
              <a:t>ADD DOB year;</a:t>
            </a:r>
            <a:endParaRPr lang="en-US" b="0" i="0" dirty="0">
              <a:effectLst/>
              <a:latin typeface="Monaco"/>
            </a:endParaRPr>
          </a:p>
          <a:p>
            <a:pPr algn="l" rtl="0" fontAlgn="base">
              <a:lnSpc>
                <a:spcPct val="150000"/>
              </a:lnSpc>
            </a:pPr>
            <a:endParaRPr lang="en-US" b="0" i="0" dirty="0">
              <a:effectLst/>
              <a:latin typeface="Monaco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b="0" i="0" dirty="0">
                <a:effectLst/>
                <a:latin typeface="Monaco"/>
              </a:rPr>
              <a:t>ALTER TABLE </a:t>
            </a:r>
            <a:r>
              <a:rPr lang="en-US" b="0" i="0" dirty="0" err="1">
                <a:effectLst/>
                <a:latin typeface="Monaco"/>
              </a:rPr>
              <a:t>Employee_Info</a:t>
            </a:r>
            <a:r>
              <a:rPr lang="en-US" dirty="0">
                <a:latin typeface="Monaco"/>
              </a:rPr>
              <a:t> </a:t>
            </a:r>
            <a:r>
              <a:rPr lang="en-US" b="0" i="0" dirty="0">
                <a:effectLst/>
                <a:latin typeface="Monaco"/>
              </a:rPr>
              <a:t>ALTER DOB date;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" y="179705"/>
            <a:ext cx="10515600" cy="4351338"/>
          </a:xfrm>
        </p:spPr>
        <p:txBody>
          <a:bodyPr>
            <a:normAutofit/>
          </a:bodyPr>
          <a:lstStyle/>
          <a:p>
            <a:pPr algn="l"/>
            <a:endParaRPr lang="en-US" b="1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algn="l"/>
            <a:endParaRPr lang="en-US" b="1" dirty="0">
              <a:solidFill>
                <a:srgbClr val="222222"/>
              </a:solidFill>
              <a:latin typeface="Source Sans Pro" panose="020F0502020204030204" pitchFamily="34" charset="0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TRUNCATE:</a:t>
            </a:r>
            <a:endParaRPr lang="en-US" sz="2400" b="1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algn="l"/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This command used to delete all the rows from the table and free the space containing the table.</a:t>
            </a:r>
            <a:endParaRPr lang="en-US" sz="2400" dirty="0">
              <a:solidFill>
                <a:srgbClr val="222222"/>
              </a:solidFill>
              <a:latin typeface="Source Sans Pro" panose="020F0502020204030204" pitchFamily="34" charset="0"/>
            </a:endParaRPr>
          </a:p>
          <a:p>
            <a:pPr algn="l"/>
            <a:endParaRPr lang="en-US" sz="2400" b="0" i="0" dirty="0"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Syntax: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TRUNCATE TABLE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table_name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;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DML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053297" y="1690688"/>
            <a:ext cx="81109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1800" b="1" i="0" u="sng" dirty="0">
                <a:effectLst/>
                <a:latin typeface="Nunito" pitchFamily="2" charset="0"/>
                <a:hlinkClick r:id="rId1"/>
              </a:rPr>
              <a:t>SELECT</a:t>
            </a:r>
            <a:r>
              <a:rPr lang="en-US" sz="1800" i="0" dirty="0">
                <a:effectLst/>
                <a:latin typeface="Nunito" pitchFamily="2" charset="0"/>
              </a:rPr>
              <a:t>: It is used to retrieve data from the database.</a:t>
            </a:r>
            <a:endParaRPr lang="en-US" sz="1800" i="0" dirty="0">
              <a:effectLst/>
              <a:latin typeface="Nunito" pitchFamily="2" charset="0"/>
            </a:endParaRPr>
          </a:p>
          <a:p>
            <a:pPr algn="just" fontAlgn="base">
              <a:lnSpc>
                <a:spcPct val="200000"/>
              </a:lnSpc>
            </a:pPr>
            <a:r>
              <a:rPr lang="en-US" sz="1800" b="1" i="0" u="sng" dirty="0">
                <a:effectLst/>
                <a:latin typeface="Nunito" pitchFamily="2" charset="0"/>
                <a:hlinkClick r:id="rId2"/>
              </a:rPr>
              <a:t>INSERT</a:t>
            </a:r>
            <a:r>
              <a:rPr lang="en-US" sz="1800" i="0" dirty="0">
                <a:effectLst/>
                <a:latin typeface="Nunito" pitchFamily="2" charset="0"/>
              </a:rPr>
              <a:t>: It is used to insert data into a table.</a:t>
            </a:r>
            <a:endParaRPr lang="en-US" sz="1800" i="0" dirty="0">
              <a:effectLst/>
              <a:latin typeface="Nunito" pitchFamily="2" charset="0"/>
            </a:endParaRPr>
          </a:p>
          <a:p>
            <a:pPr algn="just" fontAlgn="base">
              <a:lnSpc>
                <a:spcPct val="200000"/>
              </a:lnSpc>
            </a:pPr>
            <a:r>
              <a:rPr lang="en-US" sz="1800" b="1" i="0" u="sng" dirty="0">
                <a:effectLst/>
                <a:latin typeface="Nunito" pitchFamily="2" charset="0"/>
                <a:hlinkClick r:id="rId3"/>
              </a:rPr>
              <a:t>UPDATE</a:t>
            </a:r>
            <a:r>
              <a:rPr lang="en-US" sz="1800" b="1" i="0" dirty="0">
                <a:effectLst/>
                <a:latin typeface="Nunito" pitchFamily="2" charset="0"/>
              </a:rPr>
              <a:t>: </a:t>
            </a:r>
            <a:r>
              <a:rPr lang="en-US" sz="1800" i="0" dirty="0">
                <a:effectLst/>
                <a:latin typeface="Nunito" pitchFamily="2" charset="0"/>
              </a:rPr>
              <a:t>It is used to update existing data within a table.</a:t>
            </a:r>
            <a:endParaRPr lang="en-US" sz="1800" i="0" dirty="0">
              <a:effectLst/>
              <a:latin typeface="Nunito" pitchFamily="2" charset="0"/>
            </a:endParaRPr>
          </a:p>
          <a:p>
            <a:pPr algn="just" fontAlgn="base">
              <a:lnSpc>
                <a:spcPct val="200000"/>
              </a:lnSpc>
            </a:pPr>
            <a:r>
              <a:rPr lang="en-US" sz="1800" b="1" i="0" u="sng" dirty="0">
                <a:effectLst/>
                <a:latin typeface="Nunito" pitchFamily="2" charset="0"/>
                <a:hlinkClick r:id="rId4"/>
              </a:rPr>
              <a:t>DELETE</a:t>
            </a:r>
            <a:r>
              <a:rPr lang="en-US" sz="1800" i="0" dirty="0">
                <a:effectLst/>
                <a:latin typeface="Nunito" pitchFamily="2" charset="0"/>
              </a:rPr>
              <a:t>: It </a:t>
            </a:r>
            <a:r>
              <a:rPr lang="en-US" sz="1800" b="0" i="0" dirty="0">
                <a:effectLst/>
                <a:latin typeface="Nunito" pitchFamily="2" charset="0"/>
              </a:rPr>
              <a:t>is used to delete records from a database table.</a:t>
            </a:r>
            <a:endParaRPr lang="en-IN" sz="1800" b="0" i="0" dirty="0">
              <a:effectLst/>
              <a:latin typeface="Google Sans"/>
            </a:endParaRPr>
          </a:p>
          <a:p>
            <a:pPr algn="just" fontAlgn="base"/>
            <a:endParaRPr lang="en-US" sz="1800" i="0" dirty="0">
              <a:effectLst/>
              <a:latin typeface="Nunito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188" y="460159"/>
            <a:ext cx="9946640" cy="6248400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1800" b="1" i="0" dirty="0">
                <a:effectLst/>
                <a:latin typeface="Google Sans"/>
              </a:rPr>
              <a:t>Data Manipulation Language (DML)</a:t>
            </a:r>
            <a:endParaRPr lang="en-IN" sz="1800" b="1" i="0" dirty="0">
              <a:effectLst/>
              <a:latin typeface="Google Sans"/>
            </a:endParaRPr>
          </a:p>
          <a:p>
            <a:pPr algn="l"/>
            <a:r>
              <a:rPr lang="en-US" sz="1800" b="1" i="0" u="sng" dirty="0">
                <a:effectLst/>
                <a:latin typeface="Nunito" pitchFamily="2" charset="0"/>
                <a:hlinkClick r:id="rId1"/>
              </a:rPr>
              <a:t>SELECT</a:t>
            </a:r>
            <a:r>
              <a:rPr lang="en-US" sz="1800" i="0" dirty="0">
                <a:effectLst/>
                <a:latin typeface="Nunito" pitchFamily="2" charset="0"/>
              </a:rPr>
              <a:t>: It is used to retrieve data from the database.</a:t>
            </a:r>
            <a:endParaRPr lang="en-US" sz="1800" i="0" dirty="0">
              <a:effectLst/>
              <a:latin typeface="Nunito" pitchFamily="2" charset="0"/>
            </a:endParaRPr>
          </a:p>
          <a:p>
            <a:pPr algn="l"/>
            <a:r>
              <a:rPr lang="en-US" sz="1800" dirty="0">
                <a:latin typeface="Nunito" pitchFamily="2" charset="0"/>
              </a:rPr>
              <a:t>Select*from </a:t>
            </a:r>
            <a:r>
              <a:rPr lang="en-US" sz="1800" dirty="0" err="1">
                <a:latin typeface="Nunito" pitchFamily="2" charset="0"/>
              </a:rPr>
              <a:t>table_name</a:t>
            </a:r>
            <a:r>
              <a:rPr lang="en-US" sz="1800" dirty="0">
                <a:latin typeface="Nunito" pitchFamily="2" charset="0"/>
              </a:rPr>
              <a:t>;</a:t>
            </a:r>
            <a:endParaRPr lang="en-US" sz="1800" i="0" dirty="0">
              <a:effectLst/>
              <a:latin typeface="Nunito" pitchFamily="2" charset="0"/>
            </a:endParaRPr>
          </a:p>
          <a:p>
            <a:pPr algn="just" fontAlgn="base"/>
            <a:r>
              <a:rPr lang="en-US" sz="1800" b="1" i="0" u="sng" dirty="0">
                <a:effectLst/>
                <a:latin typeface="Nunito" pitchFamily="2" charset="0"/>
                <a:hlinkClick r:id="rId2"/>
              </a:rPr>
              <a:t>INSERT</a:t>
            </a:r>
            <a:r>
              <a:rPr lang="en-US" sz="1800" i="0" dirty="0">
                <a:effectLst/>
                <a:latin typeface="Nunito" pitchFamily="2" charset="0"/>
              </a:rPr>
              <a:t>: It is used to insert data into a table.</a:t>
            </a:r>
            <a:endParaRPr lang="en-US" sz="1800" i="0" dirty="0"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212529"/>
                </a:solidFill>
                <a:latin typeface="SFMono-Regular"/>
              </a:rPr>
              <a:t>Syntax</a:t>
            </a:r>
            <a:endParaRPr lang="en-US" altLang="en-US" sz="1800" b="1" dirty="0">
              <a:solidFill>
                <a:srgbClr val="212529"/>
              </a:solidFill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1" dirty="0">
              <a:solidFill>
                <a:srgbClr val="212529"/>
              </a:solidFill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INSERT INTO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(Column1, Column2, Column3, ...,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ColumnN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) VALUES (value1, value2, value3, ...);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If you don't want to mention the column names then use the below syntax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INSERT INTO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FMono-Regular"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 VALUES (Value1, Value2, Value3, ...);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Example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IN" sz="1800" b="0" i="0" dirty="0">
                <a:effectLst/>
                <a:latin typeface="Monaco"/>
              </a:rPr>
              <a:t>INSERT INTO </a:t>
            </a:r>
            <a:r>
              <a:rPr lang="en-IN" sz="1800" b="0" i="0" dirty="0" err="1">
                <a:effectLst/>
                <a:latin typeface="Monaco"/>
              </a:rPr>
              <a:t>Employee_Info</a:t>
            </a:r>
            <a:r>
              <a:rPr lang="en-IN" sz="1800" b="0" i="0" dirty="0">
                <a:effectLst/>
                <a:latin typeface="Monaco"/>
              </a:rPr>
              <a:t>(</a:t>
            </a:r>
            <a:r>
              <a:rPr lang="en-IN" sz="1800" b="0" i="0" dirty="0" err="1">
                <a:effectLst/>
                <a:latin typeface="Monaco"/>
              </a:rPr>
              <a:t>EmployeeID</a:t>
            </a:r>
            <a:r>
              <a:rPr lang="en-IN" sz="1800" b="0" i="0" dirty="0">
                <a:effectLst/>
                <a:latin typeface="Monaco"/>
              </a:rPr>
              <a:t>, </a:t>
            </a:r>
            <a:r>
              <a:rPr lang="en-IN" sz="1800" b="0" i="0" dirty="0" err="1">
                <a:effectLst/>
                <a:latin typeface="Monaco"/>
              </a:rPr>
              <a:t>EmployeeName</a:t>
            </a:r>
            <a:r>
              <a:rPr lang="en-IN" sz="1800" b="0" i="0" dirty="0">
                <a:effectLst/>
                <a:latin typeface="Monaco"/>
              </a:rPr>
              <a:t>, Emergency </a:t>
            </a:r>
            <a:r>
              <a:rPr lang="en-IN" sz="1800" b="0" i="0" dirty="0" err="1">
                <a:effectLst/>
                <a:latin typeface="Monaco"/>
              </a:rPr>
              <a:t>ContactName</a:t>
            </a:r>
            <a:r>
              <a:rPr lang="en-IN" sz="1800" b="0" i="0" dirty="0">
                <a:effectLst/>
                <a:latin typeface="Monaco"/>
              </a:rPr>
              <a:t>, </a:t>
            </a:r>
            <a:r>
              <a:rPr lang="en-IN" sz="1800" b="0" i="0" dirty="0" err="1">
                <a:effectLst/>
                <a:latin typeface="Monaco"/>
              </a:rPr>
              <a:t>PhoneNumber</a:t>
            </a:r>
            <a:r>
              <a:rPr lang="en-IN" sz="1800" b="0" i="0" dirty="0">
                <a:effectLst/>
                <a:latin typeface="Monaco"/>
              </a:rPr>
              <a:t>, Address, City, Country) VALUES ('06', '</a:t>
            </a:r>
            <a:r>
              <a:rPr lang="en-IN" sz="1800" b="0" i="0" dirty="0" err="1">
                <a:effectLst/>
                <a:latin typeface="Monaco"/>
              </a:rPr>
              <a:t>Sanjana','Jagannath</a:t>
            </a:r>
            <a:r>
              <a:rPr lang="en-IN" sz="1800" b="0" i="0" dirty="0">
                <a:effectLst/>
                <a:latin typeface="Monaco"/>
              </a:rPr>
              <a:t>', '9921321141', 'Camel Street House No 12', 'Chennai', 'India');</a:t>
            </a:r>
            <a:endParaRPr lang="en-IN" sz="1800" b="0" i="0" dirty="0">
              <a:effectLst/>
              <a:latin typeface="Monaco"/>
            </a:endParaRPr>
          </a:p>
          <a:p>
            <a:pPr algn="l" rtl="0" fontAlgn="base">
              <a:lnSpc>
                <a:spcPct val="150000"/>
              </a:lnSpc>
            </a:pPr>
            <a:r>
              <a:rPr lang="en-IN" sz="1800" b="0" i="0" dirty="0">
                <a:effectLst/>
                <a:latin typeface="Monaco"/>
              </a:rPr>
              <a:t>INSERT INTO </a:t>
            </a:r>
            <a:r>
              <a:rPr lang="en-IN" sz="1800" b="0" i="0" dirty="0" err="1">
                <a:effectLst/>
                <a:latin typeface="Monaco"/>
              </a:rPr>
              <a:t>Employee_Info</a:t>
            </a:r>
            <a:r>
              <a:rPr lang="en-IN" sz="1800" dirty="0">
                <a:latin typeface="Monaco"/>
              </a:rPr>
              <a:t> </a:t>
            </a:r>
            <a:r>
              <a:rPr lang="en-IN" sz="1800" b="0" i="0" dirty="0">
                <a:effectLst/>
                <a:latin typeface="Monaco"/>
              </a:rPr>
              <a:t>VALUES ('07', '</a:t>
            </a:r>
            <a:r>
              <a:rPr lang="en-IN" sz="1800" b="0" i="0" dirty="0" err="1">
                <a:effectLst/>
                <a:latin typeface="Monaco"/>
              </a:rPr>
              <a:t>Sayantini</a:t>
            </a:r>
            <a:r>
              <a:rPr lang="en-IN" sz="1800" b="0" i="0" dirty="0">
                <a:effectLst/>
                <a:latin typeface="Monaco"/>
              </a:rPr>
              <a:t>','Praveen', '9934567654', 'Nice Road 21', 'Pune', 'India');</a:t>
            </a:r>
            <a:endParaRPr lang="en-IN" sz="1800" b="0" i="0" dirty="0"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fontAlgn="base"/>
            <a:endParaRPr lang="en-US" sz="1500" dirty="0">
              <a:latin typeface="Nunito" pitchFamily="2" charset="0"/>
            </a:endParaRPr>
          </a:p>
          <a:p>
            <a:pPr algn="just" fontAlgn="base"/>
            <a:endParaRPr lang="en-US" sz="1500" i="0" dirty="0">
              <a:effectLst/>
              <a:latin typeface="Nunito" pitchFamily="2" charset="0"/>
            </a:endParaRPr>
          </a:p>
          <a:p>
            <a:pPr algn="just" fontAlgn="base"/>
            <a:endParaRPr lang="en-US" sz="1500" i="0" dirty="0">
              <a:effectLst/>
              <a:latin typeface="Nunito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Google Sans"/>
            </a:endParaRPr>
          </a:p>
          <a:p>
            <a:pPr algn="l"/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5504" y="370389"/>
            <a:ext cx="8296154" cy="710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200000"/>
              </a:lnSpc>
            </a:pPr>
            <a:r>
              <a:rPr lang="en-US" sz="1800" b="1" i="0" u="sng" dirty="0">
                <a:effectLst/>
                <a:hlinkClick r:id="rId1"/>
              </a:rPr>
              <a:t>UPDATE</a:t>
            </a:r>
            <a:r>
              <a:rPr lang="en-US" sz="1800" b="1" i="0" dirty="0">
                <a:effectLst/>
              </a:rPr>
              <a:t>: </a:t>
            </a:r>
            <a:endParaRPr lang="en-US" sz="1800" b="1" i="0" dirty="0">
              <a:effectLst/>
            </a:endParaRPr>
          </a:p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effectLst/>
              </a:rPr>
              <a:t>It is used to update existing data within a table.</a:t>
            </a:r>
            <a:endParaRPr lang="en-US" sz="1800" i="0" dirty="0"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Open Sans" panose="020B0606030504020204" pitchFamily="34" charset="0"/>
              </a:rPr>
              <a:t>This statement is used to modify the records already present in the table.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Open Sans" panose="020B0606030504020204" pitchFamily="34" charset="0"/>
              </a:rPr>
              <a:t>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UPDATE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SET Column1 = Value1, Column2 = Value2, ... WHERE Condition;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Open Sans" panose="020B0606030504020204" pitchFamily="34" charset="0"/>
              </a:rPr>
              <a:t>Example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algn="l" rtl="0" fontAlgn="base"/>
            <a:endParaRPr lang="en-US" dirty="0"/>
          </a:p>
          <a:p>
            <a:pPr algn="l" rtl="0" fontAlgn="base"/>
            <a:r>
              <a:rPr lang="en-US" b="0" i="0" dirty="0">
                <a:effectLst/>
              </a:rPr>
              <a:t>UPDATE </a:t>
            </a:r>
            <a:r>
              <a:rPr lang="en-US" b="0" i="0" dirty="0" err="1">
                <a:effectLst/>
              </a:rPr>
              <a:t>Employee_Info</a:t>
            </a:r>
            <a:r>
              <a:rPr lang="en-US" dirty="0"/>
              <a:t> </a:t>
            </a:r>
            <a:r>
              <a:rPr lang="en-US" b="0" i="0" dirty="0">
                <a:effectLst/>
              </a:rPr>
              <a:t>SET </a:t>
            </a:r>
            <a:r>
              <a:rPr lang="en-US" b="0" i="0" dirty="0" err="1">
                <a:effectLst/>
              </a:rPr>
              <a:t>EmployeeName</a:t>
            </a:r>
            <a:r>
              <a:rPr lang="en-US" b="0" i="0" dirty="0">
                <a:effectLst/>
              </a:rPr>
              <a:t> = '</a:t>
            </a:r>
            <a:r>
              <a:rPr lang="en-US" b="0" i="0" dirty="0" err="1">
                <a:effectLst/>
              </a:rPr>
              <a:t>Aahana</a:t>
            </a:r>
            <a:r>
              <a:rPr lang="en-US" b="0" i="0" dirty="0">
                <a:effectLst/>
              </a:rPr>
              <a:t>', City= 'Ahmedabad'</a:t>
            </a:r>
            <a:endParaRPr lang="en-US" b="0" i="0" dirty="0">
              <a:effectLst/>
            </a:endParaRPr>
          </a:p>
          <a:p>
            <a:pPr algn="l" rtl="0" fontAlgn="base"/>
            <a:r>
              <a:rPr lang="en-US" b="0" i="0" dirty="0">
                <a:effectLst/>
              </a:rPr>
              <a:t>WHERE </a:t>
            </a:r>
            <a:r>
              <a:rPr lang="en-US" b="0" i="0" dirty="0" err="1">
                <a:effectLst/>
              </a:rPr>
              <a:t>EmployeeID</a:t>
            </a:r>
            <a:r>
              <a:rPr lang="en-US" b="0" i="0" dirty="0">
                <a:effectLst/>
              </a:rPr>
              <a:t> = 1;</a:t>
            </a:r>
            <a:endParaRPr lang="en-US" b="0" i="0" dirty="0">
              <a:effectLst/>
            </a:endParaRPr>
          </a:p>
          <a:p>
            <a:pPr algn="just" fontAlgn="base">
              <a:lnSpc>
                <a:spcPct val="200000"/>
              </a:lnSpc>
            </a:pPr>
            <a:r>
              <a:rPr lang="en-US" sz="1800" b="1" i="0" u="sng" dirty="0">
                <a:effectLst/>
                <a:hlinkClick r:id="rId2"/>
              </a:rPr>
              <a:t>DELETE</a:t>
            </a:r>
            <a:r>
              <a:rPr lang="en-US" sz="1800" i="0" dirty="0">
                <a:effectLst/>
              </a:rPr>
              <a:t>: It </a:t>
            </a:r>
            <a:r>
              <a:rPr lang="en-US" sz="1800" b="0" i="0" dirty="0">
                <a:effectLst/>
              </a:rPr>
              <a:t>is used to delete records from a database table.</a:t>
            </a:r>
            <a:endParaRPr lang="en-US" sz="1800" b="0" i="0" dirty="0"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Open Sans" panose="020B0606030504020204" pitchFamily="34" charset="0"/>
              </a:rPr>
              <a:t>This statement is used to delete the existing records in a table.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Open Sans" panose="020B0606030504020204" pitchFamily="34" charset="0"/>
              </a:rPr>
              <a:t>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DELETE 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</a:rPr>
              <a:t>TableName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WHERE Condition;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Open Sans" panose="020B0606030504020204" pitchFamily="34" charset="0"/>
              </a:rPr>
              <a:t>Example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cs typeface="Open Sans" panose="020B0606030504020204" pitchFamily="34" charset="0"/>
            </a:endParaRPr>
          </a:p>
          <a:p>
            <a:pPr algn="l" rtl="0" fontAlgn="base"/>
            <a:r>
              <a:rPr lang="en-US" b="0" i="0" dirty="0">
                <a:effectLst/>
              </a:rPr>
              <a:t>DELETE FROM </a:t>
            </a:r>
            <a:r>
              <a:rPr lang="en-US" b="0" i="0" dirty="0" err="1">
                <a:effectLst/>
              </a:rPr>
              <a:t>Employee_Info</a:t>
            </a:r>
            <a:r>
              <a:rPr lang="en-US" dirty="0"/>
              <a:t> </a:t>
            </a:r>
            <a:r>
              <a:rPr lang="en-US" b="0" i="0" dirty="0">
                <a:effectLst/>
              </a:rPr>
              <a:t>WHERE </a:t>
            </a:r>
            <a:r>
              <a:rPr lang="en-US" b="0" i="0" dirty="0" err="1">
                <a:effectLst/>
              </a:rPr>
              <a:t>EmployeeName</a:t>
            </a:r>
            <a:r>
              <a:rPr lang="en-US" b="0" i="0" dirty="0">
                <a:effectLst/>
              </a:rPr>
              <a:t>='Preeti';</a:t>
            </a:r>
            <a:endParaRPr lang="en-US" b="0" i="0" dirty="0"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4A4A4A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algn="just" fontAlgn="base">
              <a:lnSpc>
                <a:spcPct val="200000"/>
              </a:lnSpc>
            </a:pPr>
            <a:endParaRPr lang="en-US" sz="1800" b="0" i="0" dirty="0">
              <a:effectLst/>
              <a:latin typeface="Nunito" pitchFamily="2" charset="0"/>
            </a:endParaRPr>
          </a:p>
          <a:p>
            <a:pPr algn="just" fontAlgn="base">
              <a:lnSpc>
                <a:spcPct val="200000"/>
              </a:lnSpc>
            </a:pPr>
            <a:endParaRPr lang="en-IN" sz="1800" b="0" i="0" dirty="0">
              <a:effectLst/>
              <a:latin typeface="Google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6585"/>
            <a:ext cx="10515600" cy="4351338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ALTER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Alters command allows you to alter the structure of the database.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Syntax: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To add a new column in the table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ALTER TABLE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 ADD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column_name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 COLUMN-definition;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To modify an existing column in the table: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Source Sans Pro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222222"/>
                </a:solidFill>
                <a:latin typeface="Source Sans Pro" panose="020F0502020204030204" pitchFamily="34" charset="0"/>
              </a:rPr>
              <a:t>Syntax: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10 Pitch"/>
              </a:rPr>
              <a:t>ALTER TABLE MODIFY(COLUMN DEFINITION....);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CONSTRAINTS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638"/>
            <a:ext cx="10515600" cy="4351338"/>
          </a:xfrm>
        </p:spPr>
        <p:txBody>
          <a:bodyPr/>
          <a:lstStyle/>
          <a:p>
            <a:r>
              <a:rPr lang="en-US" i="0" dirty="0">
                <a:solidFill>
                  <a:srgbClr val="000000"/>
                </a:solidFill>
                <a:effectLst/>
              </a:rPr>
              <a:t>SQL constraints are used to specify rules for data in a table.</a:t>
            </a:r>
            <a:endParaRPr lang="en-US" i="0" dirty="0">
              <a:solidFill>
                <a:srgbClr val="000000"/>
              </a:solidFill>
              <a:effectLst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</a:rPr>
              <a:t>Constraints are used to limit the type of data that can go into a table. </a:t>
            </a:r>
            <a:endParaRPr lang="en-US" i="0" dirty="0">
              <a:solidFill>
                <a:srgbClr val="000000"/>
              </a:solidFill>
              <a:effectLst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</a:rPr>
              <a:t>This ensures the accuracy and reliability of the data in the table.</a:t>
            </a:r>
            <a:endParaRPr lang="en-US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Constraints can be column level or table level.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 Column level constraints apply to a column, and table level constraints apply to the whole table.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CONSTRAINTS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5235"/>
            <a:ext cx="10515600" cy="4351338"/>
          </a:xfrm>
        </p:spPr>
        <p:txBody>
          <a:bodyPr>
            <a:normAutofit lnSpcReduction="10000"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1"/>
              </a:rPr>
              <a:t>NOT NULL</a:t>
            </a: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</a:rPr>
              <a:t> 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- Ensures that a column cannot have a NULL value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2"/>
              </a:rPr>
              <a:t>UNIQUE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 - Ensures that all values in a column are different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3"/>
              </a:rPr>
              <a:t>PRIMARY KEY</a:t>
            </a: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</a:rPr>
              <a:t> 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- A combination of a NOT NULL and UNIQUE. Uniquely identifies each row in a table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4"/>
              </a:rPr>
              <a:t>FOREIGN KEY</a:t>
            </a: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</a:rPr>
              <a:t> 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- Prevents actions that would destroy links between tables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5"/>
              </a:rPr>
              <a:t>CHECK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 - Ensures that the values in a column satisfies a specific condition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6"/>
              </a:rPr>
              <a:t>DEFAULT</a:t>
            </a: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</a:rPr>
              <a:t> 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- Sets a default value for a column if no value is specified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hlinkClick r:id="rId7"/>
              </a:rPr>
              <a:t>CREATE INDEX</a:t>
            </a: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</a:rPr>
              <a:t> </a:t>
            </a: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</a:rPr>
              <a:t>- Used to create and retrieve data from the database very quickly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20" y="301624"/>
            <a:ext cx="10515600" cy="559117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SQL Create Constraints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Constraints can be specified when the table is created with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statement, or after the table is created with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ALTER 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Syntax:</a:t>
            </a: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IN" sz="1600" dirty="0"/>
            </a:br>
            <a:r>
              <a:rPr lang="en-IN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column1 datatype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1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1600" dirty="0"/>
            </a:br>
            <a:r>
              <a:rPr lang="en-IN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column2 datatype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1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1600" dirty="0"/>
            </a:br>
            <a:r>
              <a:rPr lang="en-IN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column3 datatype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1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16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....</a:t>
            </a:r>
            <a:br>
              <a:rPr lang="en-IN" sz="16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IN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 constraints are used to specify rules for the data in a table.</a:t>
            </a:r>
            <a:endParaRPr lang="en-US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Constraints can be column level or table level. Column level constraints apply to a column, and table level constraints apply to the whole table.</a:t>
            </a:r>
            <a:endParaRPr lang="en-US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Constraints are used to limit the type of data that can go into a table.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575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NOT NULL Constraint</a:t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9920" y="1883877"/>
            <a:ext cx="8168640" cy="3821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By default, a column can hold NULL values.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enforces a column to NOT accept NULL values.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(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UNIQUE Constraint</a:t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7440" y="2086471"/>
            <a:ext cx="10932160" cy="4190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UNIQUE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constraint ensures that all values in a column are different.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Both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constraints provide a guarantee for uniqueness for a column or set of columns.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(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SQL PRIMARY KEY Constraint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2051942"/>
            <a:ext cx="11150600" cy="42831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uniquely identifies each record in a table.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Primary keys must contain UNIQUE values, and cannot contain NULL values.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table can have only ONE primary key; and in the table, this primary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	key can consist of single or multiple columns (fields).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br>
              <a:rPr lang="en-US" dirty="0"/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Primary and Unique Key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8020" y="1886673"/>
            <a:ext cx="9850056" cy="3958542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5211" y="1513318"/>
            <a:ext cx="8463989" cy="72943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FOREIGN KEY CONSTRAINTS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FOREIGN KEY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is a field (or collection of fields) in one table, that refers to the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  <a:hlinkClick r:id="rId1"/>
              </a:rPr>
              <a:t>PRIMARY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in another table.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  <a:sym typeface="Wingdings" panose="05000000000000000000" pitchFamily="2" charset="2"/>
              </a:rPr>
              <a:t>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The table with the foreign key is called the child table, and the table with the primary key is called the referenced or parent table.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1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+mn-lt"/>
              </a:rPr>
              <a:t>Syntax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Orders (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OrderNumber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Dnumber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FOREIGN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Verdana" panose="020B0604030504040204" pitchFamily="34" charset="0"/>
              <a:sym typeface="Wingdings" panose="05000000000000000000" pitchFamily="2" charset="2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400" y="595353"/>
            <a:ext cx="7668583" cy="13376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968" y="2561731"/>
            <a:ext cx="4427015" cy="24157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97400" y="162046"/>
            <a:ext cx="268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Persons table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CONSTRAINTS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7247" y="1496071"/>
            <a:ext cx="10099876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constraint is used to limit the value range that can be placed in a column.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If you define a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constraint on a column it will allow only certain values for this column.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If you define a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constraint on a table it can limit the values in certain columns based on values in other columns in the row.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1800" dirty="0">
              <a:latin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80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(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(Age&gt;=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 CONSTRAINT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PK_Person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ID,LastName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 CONSTRAINT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PK_Person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ID,LastName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 CONSTRAINT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0096"/>
            <a:ext cx="11129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Orders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OrderNumber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FK_PersonOrder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FOREIGN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9428</Words>
  <Application>WPS Presentation</Application>
  <PresentationFormat>Widescreen</PresentationFormat>
  <Paragraphs>295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SimSun</vt:lpstr>
      <vt:lpstr>Wingdings</vt:lpstr>
      <vt:lpstr>Source Sans Pro</vt:lpstr>
      <vt:lpstr>Open Sans</vt:lpstr>
      <vt:lpstr>Segoe Print</vt:lpstr>
      <vt:lpstr>Nunito</vt:lpstr>
      <vt:lpstr>Google Sans</vt:lpstr>
      <vt:lpstr>SFMono-Regular</vt:lpstr>
      <vt:lpstr>Monaco</vt:lpstr>
      <vt:lpstr>Calibri Light</vt:lpstr>
      <vt:lpstr>Microsoft YaHei</vt:lpstr>
      <vt:lpstr>Arial Unicode MS</vt:lpstr>
      <vt:lpstr>Calibri</vt:lpstr>
      <vt:lpstr>Courier 10 Pitch</vt:lpstr>
      <vt:lpstr>Segoe UI</vt:lpstr>
      <vt:lpstr>Verdana</vt:lpstr>
      <vt:lpstr>Consolas</vt:lpstr>
      <vt:lpstr>Office Theme</vt:lpstr>
      <vt:lpstr>DBMS LAB EX :1a and 1b</vt:lpstr>
      <vt:lpstr>What is SQL?</vt:lpstr>
      <vt:lpstr>Example of Relational DataBase</vt:lpstr>
      <vt:lpstr>SQL Languages</vt:lpstr>
      <vt:lpstr>PowerPoint 演示文稿</vt:lpstr>
      <vt:lpstr>What is DDL? </vt:lpstr>
      <vt:lpstr>Data Definition Language (DDL)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DML </vt:lpstr>
      <vt:lpstr>PowerPoint 演示文稿</vt:lpstr>
      <vt:lpstr>PowerPoint 演示文稿</vt:lpstr>
      <vt:lpstr>PowerPoint 演示文稿</vt:lpstr>
      <vt:lpstr>SQL CONSTRAINTS</vt:lpstr>
      <vt:lpstr>TYPES OF CONSTRAINTS</vt:lpstr>
      <vt:lpstr>PowerPoint 演示文稿</vt:lpstr>
      <vt:lpstr>SQL NOT NULL Constraint </vt:lpstr>
      <vt:lpstr>SQL UNIQUE Constraint </vt:lpstr>
      <vt:lpstr>SQL PRIMARY KEY Constraint </vt:lpstr>
      <vt:lpstr>Difference between Primary and Unique Key</vt:lpstr>
      <vt:lpstr>PowerPoint 演示文稿</vt:lpstr>
      <vt:lpstr>CHECK CONSTRAINTS</vt:lpstr>
      <vt:lpstr>PRIMARY KEY CONSTRAINT</vt:lpstr>
      <vt:lpstr>PRIMARY KEY CONSTRAINT </vt:lpstr>
      <vt:lpstr>FOREIGN KEY CONSTRAINT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SQL?</dc:title>
  <dc:creator>Berin Jeba Jingle I</dc:creator>
  <cp:lastModifiedBy>Dr. SALAJA S. 476</cp:lastModifiedBy>
  <cp:revision>26</cp:revision>
  <dcterms:created xsi:type="dcterms:W3CDTF">2023-07-14T09:30:00Z</dcterms:created>
  <dcterms:modified xsi:type="dcterms:W3CDTF">2026-07-08T04:06:05Z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A254CBD012584ED99C91522CD0E76180_13</vt:lpwstr>
  </property>
  <property fmtid="{D5CDD505-2E9C-101B-9397-08002B2CF9AE}" pid="3" name="KSOProductBuildVer">
    <vt:lpwstr>1033-12.1.0.26880</vt:lpwstr>
  </property>
</Properties>
</file>